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72"/>
  </p:notesMasterIdLst>
  <p:handoutMasterIdLst>
    <p:handoutMasterId r:id="rId73"/>
  </p:handoutMasterIdLst>
  <p:sldIdLst>
    <p:sldId id="2040" r:id="rId45"/>
    <p:sldId id="2042" r:id="rId46"/>
    <p:sldId id="2043" r:id="rId47"/>
    <p:sldId id="2045" r:id="rId48"/>
    <p:sldId id="2046" r:id="rId49"/>
    <p:sldId id="2047" r:id="rId50"/>
    <p:sldId id="2049" r:id="rId51"/>
    <p:sldId id="2050" r:id="rId52"/>
    <p:sldId id="2048" r:id="rId53"/>
    <p:sldId id="2051" r:id="rId54"/>
    <p:sldId id="2053" r:id="rId55"/>
    <p:sldId id="2054" r:id="rId56"/>
    <p:sldId id="2041" r:id="rId57"/>
    <p:sldId id="2055" r:id="rId58"/>
    <p:sldId id="2056" r:id="rId59"/>
    <p:sldId id="2069" r:id="rId60"/>
    <p:sldId id="2057" r:id="rId61"/>
    <p:sldId id="2058" r:id="rId62"/>
    <p:sldId id="2068" r:id="rId63"/>
    <p:sldId id="2059" r:id="rId64"/>
    <p:sldId id="2060" r:id="rId65"/>
    <p:sldId id="2061" r:id="rId66"/>
    <p:sldId id="2063" r:id="rId67"/>
    <p:sldId id="2064" r:id="rId68"/>
    <p:sldId id="2065" r:id="rId69"/>
    <p:sldId id="2066" r:id="rId70"/>
    <p:sldId id="2067" r:id="rId71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8" Type="http://schemas.openxmlformats.org/officeDocument/2006/relationships/tags" Target="tags/tag2.xml"/><Relationship Id="rId77" Type="http://schemas.openxmlformats.org/officeDocument/2006/relationships/commentAuthors" Target="commentAuthors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notesMaster" Target="notesMasters/notesMaster1.xml"/><Relationship Id="rId71" Type="http://schemas.openxmlformats.org/officeDocument/2006/relationships/slide" Target="slides/slide27.xml"/><Relationship Id="rId70" Type="http://schemas.openxmlformats.org/officeDocument/2006/relationships/slide" Target="slides/slide26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5.xml"/><Relationship Id="rId68" Type="http://schemas.openxmlformats.org/officeDocument/2006/relationships/slide" Target="slides/slide24.xml"/><Relationship Id="rId67" Type="http://schemas.openxmlformats.org/officeDocument/2006/relationships/slide" Target="slides/slide23.xml"/><Relationship Id="rId66" Type="http://schemas.openxmlformats.org/officeDocument/2006/relationships/slide" Target="slides/slide22.xml"/><Relationship Id="rId65" Type="http://schemas.openxmlformats.org/officeDocument/2006/relationships/slide" Target="slides/slide21.xml"/><Relationship Id="rId64" Type="http://schemas.openxmlformats.org/officeDocument/2006/relationships/slide" Target="slides/slide20.xml"/><Relationship Id="rId63" Type="http://schemas.openxmlformats.org/officeDocument/2006/relationships/slide" Target="slides/slide19.xml"/><Relationship Id="rId62" Type="http://schemas.openxmlformats.org/officeDocument/2006/relationships/slide" Target="slides/slide18.xml"/><Relationship Id="rId61" Type="http://schemas.openxmlformats.org/officeDocument/2006/relationships/slide" Target="slides/slide17.xml"/><Relationship Id="rId60" Type="http://schemas.openxmlformats.org/officeDocument/2006/relationships/slide" Target="slides/slide1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5.xml"/><Relationship Id="rId58" Type="http://schemas.openxmlformats.org/officeDocument/2006/relationships/slide" Target="slides/slide14.xml"/><Relationship Id="rId57" Type="http://schemas.openxmlformats.org/officeDocument/2006/relationships/slide" Target="slides/slide13.xml"/><Relationship Id="rId56" Type="http://schemas.openxmlformats.org/officeDocument/2006/relationships/slide" Target="slides/slide12.xml"/><Relationship Id="rId55" Type="http://schemas.openxmlformats.org/officeDocument/2006/relationships/slide" Target="slides/slide11.xml"/><Relationship Id="rId54" Type="http://schemas.openxmlformats.org/officeDocument/2006/relationships/slide" Target="slides/slide10.xml"/><Relationship Id="rId53" Type="http://schemas.openxmlformats.org/officeDocument/2006/relationships/slide" Target="slides/slide9.xml"/><Relationship Id="rId52" Type="http://schemas.openxmlformats.org/officeDocument/2006/relationships/slide" Target="slides/slide8.xml"/><Relationship Id="rId51" Type="http://schemas.openxmlformats.org/officeDocument/2006/relationships/slide" Target="slides/slide7.xml"/><Relationship Id="rId50" Type="http://schemas.openxmlformats.org/officeDocument/2006/relationships/slide" Target="slides/slide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5.xml"/><Relationship Id="rId48" Type="http://schemas.openxmlformats.org/officeDocument/2006/relationships/slide" Target="slides/slide4.xml"/><Relationship Id="rId47" Type="http://schemas.openxmlformats.org/officeDocument/2006/relationships/slide" Target="slides/slide3.xml"/><Relationship Id="rId46" Type="http://schemas.openxmlformats.org/officeDocument/2006/relationships/slide" Target="slides/slide2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api.mengfactory.cn/" TargetMode="External"/><Relationship Id="rId1" Type="http://schemas.openxmlformats.org/officeDocument/2006/relationships/hyperlink" Target="https://chrisclub.cn/#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D2上午 · 从一句话到</a:t>
            </a:r>
            <a:r>
              <a:rPr lang="en-US" sz="2400" b="1"/>
              <a:t>3</a:t>
            </a:r>
            <a:r>
              <a:rPr sz="2400" b="1"/>
              <a:t>00+</a:t>
            </a:r>
            <a:endParaRPr sz="2400" b="1"/>
          </a:p>
        </p:txBody>
      </p:sp>
      <p:sp>
        <p:nvSpPr>
          <p:cNvPr id="3" name="TextBox 2"/>
          <p:cNvSpPr txBox="1"/>
          <p:nvPr/>
        </p:nvSpPr>
        <p:spPr>
          <a:xfrm>
            <a:off x="2635631" y="3154680"/>
            <a:ext cx="639699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朋友一句话 → </a:t>
            </a:r>
            <a:r>
              <a:rPr lang="en-US" sz="2000" b="0"/>
              <a:t>3</a:t>
            </a:r>
            <a:r>
              <a:rPr sz="2000" b="0"/>
              <a:t>00多个付费用户——不是运气，是流程</a:t>
            </a:r>
            <a:endParaRPr sz="20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2800" b="1"/>
              <a:t>发现</a:t>
            </a:r>
            <a:r>
              <a:rPr lang="zh-CN" sz="2800" b="1"/>
              <a:t>需求</a:t>
            </a:r>
            <a:endParaRPr lang="zh-CN"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24128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 b="0"/>
              <a:t>朋友：</a:t>
            </a:r>
            <a:r>
              <a:rPr sz="2000" b="0"/>
              <a:t>“</a:t>
            </a:r>
            <a:r>
              <a:rPr sz="2000" b="1"/>
              <a:t>设计师出图太贵了</a:t>
            </a:r>
            <a:r>
              <a:rPr sz="2000" b="0"/>
              <a:t>。”</a:t>
            </a:r>
            <a:endParaRPr sz="2000" b="0"/>
          </a:p>
          <a:p>
            <a:endParaRPr sz="2000" b="0"/>
          </a:p>
          <a:p>
            <a:r>
              <a:rPr lang="zh-CN" sz="2000" b="0"/>
              <a:t>我：</a:t>
            </a:r>
            <a:r>
              <a:rPr sz="2000" b="1">
                <a:sym typeface="+mn-ea"/>
              </a:rPr>
              <a:t>哦，贵就贵呗</a:t>
            </a:r>
            <a:r>
              <a:rPr lang="zh-CN" sz="2000" b="1">
                <a:sym typeface="+mn-ea"/>
              </a:rPr>
              <a:t>！</a:t>
            </a:r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  <a:p>
            <a:r>
              <a:rPr lang="zh-CN" sz="2000" b="1">
                <a:sym typeface="+mn-ea"/>
              </a:rPr>
              <a:t>朋友：身边都是设计师群体</a:t>
            </a:r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  <a:p>
            <a:r>
              <a:rPr lang="zh-CN" sz="2000" b="1">
                <a:sym typeface="+mn-ea"/>
              </a:rPr>
              <a:t>我：他们有啥特殊么？</a:t>
            </a:r>
            <a:endParaRPr sz="2000" b="0"/>
          </a:p>
          <a:p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  <a:p>
            <a:endParaRPr lang="zh-CN" sz="20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场景：设计师，天天出图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AI 出图，一张</a:t>
            </a:r>
            <a:r>
              <a:rPr lang="zh-CN" sz="2000" b="0"/>
              <a:t>五毛</a:t>
            </a:r>
            <a:r>
              <a:rPr sz="2000" b="0"/>
              <a:t>钱</a:t>
            </a:r>
            <a:r>
              <a:rPr lang="en-US" sz="2000" b="0"/>
              <a:t>    --</a:t>
            </a:r>
            <a:r>
              <a:rPr lang="zh-CN" altLang="en-US" sz="2000" b="0"/>
              <a:t>国内的小网站，能对接国外大模型</a:t>
            </a:r>
            <a:r>
              <a:rPr lang="en-US" sz="2000" b="0"/>
              <a:t>   </a:t>
            </a:r>
            <a:endParaRPr lang="zh-CN" altLang="en-US"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一天几百张，天天在掏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一个月下来，上千块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天天掏钱的事，才是真事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2080" y="3758565"/>
            <a:ext cx="6054725" cy="36830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+mn-lt"/>
                <a:ea typeface="+mn-ea"/>
              </a:rPr>
              <a:t>能不能把成本打下来？</a:t>
            </a:r>
            <a:endParaRPr lang="zh-CN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真需求三特征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有人——谁在说这句话？设计师，一群人，不是一个人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有痛——出图太贵，天天在掏钱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高频——天天出图，天天痛，不是一年痛一次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一句话是抱怨，三样凑齐是需求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边界：什么不是需求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“我家门口树太高”——有人、有痛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但一年痛一次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那不是需求，是闲事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三样凑不齐，别动手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60秒：写一句你听过的抱怨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工作里、生活里，哪句抱怨你听得最多？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“太贵了”“太慢了”“太烦了”——写下来，一句就行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想不起来？你抱怨过别人也行，写下来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不是会写代码的人发现需求，是听见抱怨的人发现需求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五行模板</a:t>
            </a:r>
            <a:r>
              <a:rPr lang="en-US" sz="2800" b="1"/>
              <a:t>-AI</a:t>
            </a:r>
            <a:r>
              <a:rPr lang="zh-CN" altLang="en-US" sz="2800" b="1"/>
              <a:t>沟通</a:t>
            </a:r>
            <a:endParaRPr lang="zh-CN" altLang="en-US"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第一行：给谁用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第二行：解决什么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第三行：现在怎么做的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第四行：贵在哪</a:t>
            </a:r>
            <a:endParaRPr sz="2000" b="0"/>
          </a:p>
        </p:txBody>
      </p:sp>
      <p:sp>
        <p:nvSpPr>
          <p:cNvPr id="7" name="TextBox 6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第五行：他愿不愿意换</a:t>
            </a:r>
            <a:endParaRPr sz="2000" b="0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前四行是事实，第五行是判断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五行填好，长这样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给谁用：设计师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解决什么：出图太贵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现在怎么做的：自己找图、外包、硬扛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贵在哪：一张几毛 × 一天几百张 = 一个月上千块</a:t>
            </a:r>
            <a:endParaRPr sz="2000" b="0"/>
          </a:p>
        </p:txBody>
      </p:sp>
      <p:sp>
        <p:nvSpPr>
          <p:cNvPr id="7" name="TextBox 6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愿不愿意换：能省一半成本——换</a:t>
            </a:r>
            <a:endParaRPr sz="2000" b="0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事实拷问清楚了，判断才有底气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“不是会写代码的人发现需求，是听见抱怨的人发现需求”</a:t>
            </a:r>
            <a:endParaRPr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你刚才写下的那句，可能就是你未来的“400个付费用户”的起点</a:t>
            </a:r>
            <a:endParaRPr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“帮我把‘设计师出图太贵了’这句话，拷问成五行需求模板：给谁用/解决什么/现在怎么做的/贵在哪/愿不愿意换。”</a:t>
            </a:r>
            <a:endParaRPr sz="2000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纠偏：直接问，它就给你个随便的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你要是直接问“做个生图网站行不行”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它就给你一个随便的答案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先拷问，后动手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顺序反了，答案就水了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AI</a:t>
            </a:r>
            <a:r>
              <a:rPr lang="zh-CN" altLang="en-US" sz="2800" b="1"/>
              <a:t>调研</a:t>
            </a:r>
            <a:endParaRPr lang="zh-CN" altLang="en-US"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基础版：照模板一行一行填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进阶版：填完发豆包，让它补第五行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挑战版：拷问完再问“这个需求值得做吗？”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你没画一张图，已经把一个需求想清楚了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3274" y="2697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“先验证，再投入”</a:t>
            </a:r>
            <a:endParaRPr sz="3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初版三件事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第一，让它能跑——点一下，出来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第二，让它能用——丑没关系，功能是真的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第三，先给人用——</a:t>
            </a:r>
            <a:r>
              <a:rPr lang="zh-CN" sz="2000" b="0"/>
              <a:t>慢慢</a:t>
            </a:r>
            <a:r>
              <a:rPr lang="zh-CN" sz="2000" b="0"/>
              <a:t>迭代</a:t>
            </a:r>
            <a:endParaRPr lang="zh-CN" sz="2000" b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我当时那个初版，丑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没有设计，没有品牌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就是一个能出图的东西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但我没等——直接给朋友：你先用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人先用起来，才知道哪里该改；自己憋着改，永远改不完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我当时那个初版，丑</a:t>
            </a:r>
            <a:endParaRPr sz="2800" b="1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9000" y="1134110"/>
            <a:ext cx="10414000" cy="5215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“初版的敌人不是丑，是‘没跑起来’”</a:t>
            </a:r>
            <a:endParaRPr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有人问“这么丑怎么好意思给人用”——我当时也这么想</a:t>
            </a:r>
            <a:endParaRPr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生图网站本质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一个网页 + 一个调用的接口 = 生图网站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网页好办，难在怎么让网站会出图——调别人的接口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新问题：接口，怎么接？</a:t>
            </a:r>
            <a:endParaRPr sz="2000"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2800" b="1"/>
              <a:t>接口</a:t>
            </a:r>
            <a:endParaRPr lang="zh-CN" sz="2800" b="1"/>
          </a:p>
        </p:txBody>
      </p:sp>
      <p:sp>
        <p:nvSpPr>
          <p:cNvPr id="3" name="TextBox 2"/>
          <p:cNvSpPr txBox="1"/>
          <p:nvPr/>
        </p:nvSpPr>
        <p:spPr>
          <a:xfrm>
            <a:off x="975360" y="129286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 b="0"/>
              <a:t>使用别人的功能</a:t>
            </a:r>
            <a:r>
              <a:rPr lang="en-US" altLang="zh-CN" sz="2000" b="0"/>
              <a:t>  </a:t>
            </a:r>
            <a:r>
              <a:rPr lang="zh-CN" altLang="en-US" sz="2000" b="0"/>
              <a:t>这里放调研的几个接口</a:t>
            </a:r>
            <a:r>
              <a:rPr lang="zh-CN" altLang="en-US" sz="2000" b="0"/>
              <a:t>网站</a:t>
            </a:r>
            <a:endParaRPr lang="zh-CN" altLang="en-US" sz="2000" b="0"/>
          </a:p>
        </p:txBody>
      </p:sp>
      <p:sp>
        <p:nvSpPr>
          <p:cNvPr id="6" name="文本框 5"/>
          <p:cNvSpPr txBox="1"/>
          <p:nvPr/>
        </p:nvSpPr>
        <p:spPr>
          <a:xfrm>
            <a:off x="1137920" y="2372360"/>
            <a:ext cx="4388485" cy="52197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hlinkClick r:id="rId1" tooltip="" action="ppaction://hlinkfile"/>
              </a:rPr>
              <a:t>chrisclub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0470" y="3345815"/>
            <a:ext cx="2144395" cy="52197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hlinkClick r:id="rId2" tooltip="" action="ppaction://hlinkfile"/>
              </a:rPr>
              <a:t>梦工场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喂文档法第一步：调研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不是拿到一家就接——先把几家生图接口的文档都翻一遍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比什么：接口稳不稳、参数全不全、价格多少、返回啥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像挑菜，先逛一圈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调研不花钱，踩坑才花钱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喂文档法三步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① 接口链接——接口地址给它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② 接口参数——要传什么：提示词、尺寸、数量、钥匙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③ 返回结果——图片网址藏在哪个字段</a:t>
            </a:r>
            <a:endParaRPr sz="2000" b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/>
              <a:t>接口</a:t>
            </a:r>
            <a:r>
              <a:rPr lang="zh-CN" altLang="en-US" sz="2800" b="1"/>
              <a:t>对接</a:t>
            </a:r>
            <a:endParaRPr lang="zh-CN" altLang="en-US"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“这是 XXX 生图接口的文档（链接+参数+返回示例），请帮我在我的网站里接入它：用户输入提示词→调这个接口→把返回的图片显示出来。”</a:t>
            </a:r>
            <a:endParaRPr sz="2000"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纠偏：不给文档，它就编一个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直接说“接个生图接口”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它十有八九编一个——那接口根本不存在</a:t>
            </a:r>
            <a:r>
              <a:rPr lang="en-US" sz="2000" b="0"/>
              <a:t>,</a:t>
            </a:r>
            <a:r>
              <a:rPr lang="zh-CN" altLang="en-US" sz="2000" b="0"/>
              <a:t>也有可能他去</a:t>
            </a:r>
            <a:r>
              <a:rPr lang="zh-CN" altLang="en-US" sz="2000" b="0"/>
              <a:t>调研</a:t>
            </a:r>
            <a:endParaRPr lang="zh-CN" altLang="en-US"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喂的是真文档，出的才是真代码</a:t>
            </a:r>
            <a:endParaRPr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1664" y="251079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“先让它学会，再让它干活”</a:t>
            </a:r>
            <a:endParaRPr sz="32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上午三件事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1129030" y="2285365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 b="0"/>
              <a:t>思考需求</a:t>
            </a:r>
            <a:r>
              <a:rPr sz="2000" b="0"/>
              <a:t> → 逼成五行 → 搭个能跑的初版</a:t>
            </a:r>
            <a:endParaRPr sz="2000" b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48174" y="2697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“听、问、判断——你天天都在干”</a:t>
            </a:r>
            <a:endParaRPr sz="32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接口自己“翻车”了</a:t>
            </a:r>
            <a:endParaRPr sz="2800" b="1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用着用着，出事了——接口不稳定</a:t>
            </a:r>
            <a:endParaRPr sz="2000" b="0"/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时而慢、时而挂、时而出错</a:t>
            </a:r>
            <a:endParaRPr sz="2000" b="0"/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怎么接住这一波？下午见</a:t>
            </a:r>
            <a:endParaRPr sz="2000" b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WPS 演示</Application>
  <PresentationFormat>宽屏</PresentationFormat>
  <Paragraphs>215</Paragraphs>
  <Slides>27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27</vt:i4>
      </vt:variant>
    </vt:vector>
  </HeadingPairs>
  <TitlesOfParts>
    <vt:vector size="93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Apple Color Emoji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D2上午 · 从一句话到400+</vt:lpstr>
      <vt:lpstr>出发点：朋友一句话</vt:lpstr>
      <vt:lpstr>场景：我那朋友是设计师，天天出图</vt:lpstr>
      <vt:lpstr>真需求三特征</vt:lpstr>
      <vt:lpstr>边界：什么不是需求</vt:lpstr>
      <vt:lpstr>60秒：写一句你听过的抱怨</vt:lpstr>
      <vt:lpstr>五行模板</vt:lpstr>
      <vt:lpstr>五行填好，长这样</vt:lpstr>
      <vt:lpstr>记住</vt:lpstr>
      <vt:lpstr>演示①：提示词原文</vt:lpstr>
      <vt:lpstr>纠偏：直接问，它就给你个随便的</vt:lpstr>
      <vt:lpstr>90秒：把你的抱怨逼成五行</vt:lpstr>
      <vt:lpstr>记住</vt:lpstr>
      <vt:lpstr>初版三件事</vt:lpstr>
      <vt:lpstr>我当时那个初版，丑</vt:lpstr>
      <vt:lpstr>我当时那个初版，丑</vt:lpstr>
      <vt:lpstr>记住</vt:lpstr>
      <vt:lpstr>生图网站本质</vt:lpstr>
      <vt:lpstr>生图网站本质</vt:lpstr>
      <vt:lpstr>喂文档法第一步：调研</vt:lpstr>
      <vt:lpstr>喂文档法三步</vt:lpstr>
      <vt:lpstr>演示①：提示词原文</vt:lpstr>
      <vt:lpstr>纠偏：不给文档，它就编一个</vt:lpstr>
      <vt:lpstr>记住</vt:lpstr>
      <vt:lpstr>上午三件事</vt:lpstr>
      <vt:lpstr>记住</vt:lpstr>
      <vt:lpstr>下午：接口自己“翻车”了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862</cp:revision>
  <dcterms:created xsi:type="dcterms:W3CDTF">2026-10-04T13:27:08Z</dcterms:created>
  <dcterms:modified xsi:type="dcterms:W3CDTF">2026-10-04T13:27:08Z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