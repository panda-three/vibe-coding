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7" r:id="rId36"/>
    <p:sldMasterId id="2147484029" r:id="rId37"/>
    <p:sldMasterId id="2147484031" r:id="rId38"/>
    <p:sldMasterId id="2147484033" r:id="rId39"/>
    <p:sldMasterId id="2147484052" r:id="rId40"/>
    <p:sldMasterId id="2147484054" r:id="rId41"/>
    <p:sldMasterId id="2147484056" r:id="rId42"/>
    <p:sldMasterId id="2147484058" r:id="rId43"/>
    <p:sldMasterId id="2147484079" r:id="rId44"/>
  </p:sldMasterIdLst>
  <p:notesMasterIdLst>
    <p:notesMasterId r:id="rId46"/>
  </p:notesMasterIdLst>
  <p:handoutMasterIdLst>
    <p:handoutMasterId r:id="rId89"/>
  </p:handoutMasterIdLst>
  <p:sldIdLst>
    <p:sldId id="2075" r:id="rId45"/>
    <p:sldId id="2027" r:id="rId47"/>
    <p:sldId id="2031" r:id="rId48"/>
    <p:sldId id="2076" r:id="rId49"/>
    <p:sldId id="2077" r:id="rId50"/>
    <p:sldId id="2078" r:id="rId51"/>
    <p:sldId id="2079" r:id="rId52"/>
    <p:sldId id="2080" r:id="rId53"/>
    <p:sldId id="2081" r:id="rId54"/>
    <p:sldId id="2082" r:id="rId55"/>
    <p:sldId id="2083" r:id="rId56"/>
    <p:sldId id="2084" r:id="rId57"/>
    <p:sldId id="2085" r:id="rId58"/>
    <p:sldId id="2086" r:id="rId59"/>
    <p:sldId id="2087" r:id="rId60"/>
    <p:sldId id="2088" r:id="rId61"/>
    <p:sldId id="2089" r:id="rId62"/>
    <p:sldId id="2090" r:id="rId63"/>
    <p:sldId id="2091" r:id="rId64"/>
    <p:sldId id="2092" r:id="rId65"/>
    <p:sldId id="2093" r:id="rId66"/>
    <p:sldId id="2094" r:id="rId67"/>
    <p:sldId id="2037" r:id="rId68"/>
    <p:sldId id="2038" r:id="rId69"/>
    <p:sldId id="2041" r:id="rId70"/>
    <p:sldId id="2042" r:id="rId71"/>
    <p:sldId id="2043" r:id="rId72"/>
    <p:sldId id="2045" r:id="rId73"/>
    <p:sldId id="2048" r:id="rId74"/>
    <p:sldId id="2049" r:id="rId75"/>
    <p:sldId id="2051" r:id="rId76"/>
    <p:sldId id="2053" r:id="rId77"/>
    <p:sldId id="2054" r:id="rId78"/>
    <p:sldId id="2057" r:id="rId79"/>
    <p:sldId id="2059" r:id="rId80"/>
    <p:sldId id="2061" r:id="rId81"/>
    <p:sldId id="2062" r:id="rId82"/>
    <p:sldId id="2063" r:id="rId83"/>
    <p:sldId id="2064" r:id="rId84"/>
    <p:sldId id="2065" r:id="rId85"/>
    <p:sldId id="2068" r:id="rId86"/>
    <p:sldId id="2070" r:id="rId87"/>
    <p:sldId id="2072" r:id="rId88"/>
  </p:sldIdLst>
  <p:sldSz cx="12192000" cy="6858000"/>
  <p:notesSz cx="6858000" cy="9144000"/>
  <p:custDataLst>
    <p:tags r:id="rId9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gs" Target="tags/tag8.xml"/><Relationship Id="rId93" Type="http://schemas.openxmlformats.org/officeDocument/2006/relationships/commentAuthors" Target="commentAuthors.xml"/><Relationship Id="rId92" Type="http://schemas.openxmlformats.org/officeDocument/2006/relationships/tableStyles" Target="tableStyles.xml"/><Relationship Id="rId91" Type="http://schemas.openxmlformats.org/officeDocument/2006/relationships/viewProps" Target="viewProps.xml"/><Relationship Id="rId90" Type="http://schemas.openxmlformats.org/officeDocument/2006/relationships/presProps" Target="presProps.xml"/><Relationship Id="rId9" Type="http://schemas.openxmlformats.org/officeDocument/2006/relationships/slideMaster" Target="slideMasters/slideMaster8.xml"/><Relationship Id="rId89" Type="http://schemas.openxmlformats.org/officeDocument/2006/relationships/handoutMaster" Target="handoutMasters/handoutMaster1.xml"/><Relationship Id="rId88" Type="http://schemas.openxmlformats.org/officeDocument/2006/relationships/slide" Target="slides/slide43.xml"/><Relationship Id="rId87" Type="http://schemas.openxmlformats.org/officeDocument/2006/relationships/slide" Target="slides/slide42.xml"/><Relationship Id="rId86" Type="http://schemas.openxmlformats.org/officeDocument/2006/relationships/slide" Target="slides/slide41.xml"/><Relationship Id="rId85" Type="http://schemas.openxmlformats.org/officeDocument/2006/relationships/slide" Target="slides/slide40.xml"/><Relationship Id="rId84" Type="http://schemas.openxmlformats.org/officeDocument/2006/relationships/slide" Target="slides/slide39.xml"/><Relationship Id="rId83" Type="http://schemas.openxmlformats.org/officeDocument/2006/relationships/slide" Target="slides/slide38.xml"/><Relationship Id="rId82" Type="http://schemas.openxmlformats.org/officeDocument/2006/relationships/slide" Target="slides/slide37.xml"/><Relationship Id="rId81" Type="http://schemas.openxmlformats.org/officeDocument/2006/relationships/slide" Target="slides/slide36.xml"/><Relationship Id="rId80" Type="http://schemas.openxmlformats.org/officeDocument/2006/relationships/slide" Target="slides/slide35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4.xml"/><Relationship Id="rId78" Type="http://schemas.openxmlformats.org/officeDocument/2006/relationships/slide" Target="slides/slide33.xml"/><Relationship Id="rId77" Type="http://schemas.openxmlformats.org/officeDocument/2006/relationships/slide" Target="slides/slide32.xml"/><Relationship Id="rId76" Type="http://schemas.openxmlformats.org/officeDocument/2006/relationships/slide" Target="slides/slide31.xml"/><Relationship Id="rId75" Type="http://schemas.openxmlformats.org/officeDocument/2006/relationships/slide" Target="slides/slide30.xml"/><Relationship Id="rId74" Type="http://schemas.openxmlformats.org/officeDocument/2006/relationships/slide" Target="slides/slide29.xml"/><Relationship Id="rId73" Type="http://schemas.openxmlformats.org/officeDocument/2006/relationships/slide" Target="slides/slide28.xml"/><Relationship Id="rId72" Type="http://schemas.openxmlformats.org/officeDocument/2006/relationships/slide" Target="slides/slide27.xml"/><Relationship Id="rId71" Type="http://schemas.openxmlformats.org/officeDocument/2006/relationships/slide" Target="slides/slide26.xml"/><Relationship Id="rId70" Type="http://schemas.openxmlformats.org/officeDocument/2006/relationships/slide" Target="slides/slide2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4.xml"/><Relationship Id="rId68" Type="http://schemas.openxmlformats.org/officeDocument/2006/relationships/slide" Target="slides/slide23.xml"/><Relationship Id="rId67" Type="http://schemas.openxmlformats.org/officeDocument/2006/relationships/slide" Target="slides/slide22.xml"/><Relationship Id="rId66" Type="http://schemas.openxmlformats.org/officeDocument/2006/relationships/slide" Target="slides/slide21.xml"/><Relationship Id="rId65" Type="http://schemas.openxmlformats.org/officeDocument/2006/relationships/slide" Target="slides/slide20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简历你真的满意吗？怎么去修改</a:t>
            </a:r>
            <a:r>
              <a:rPr lang="zh-CN"/>
              <a:t>呢？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P07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互动：举手或投票。不要马上评价答案，先保留差异。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互动：给学员 60 秒独立书写，再邀请 2–3 人分享。把“文件”追问成“可服务的场景”。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用路线建立期待。提醒学员：后半段会把前面的故事方法迁移到题库系统。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案例讲慢：先让听众进入家庭场景，再揭示问题不是创意能力消失，而是经验没有被资产化。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互动：请学员先读提示词，再说出 AI 缺少的输入。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强调数据链条。可停下来问学员：你自己的工作记录现在卡在哪一步？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互动：举手或投票。不要马上评价答案，先保留差异。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互动：举手或投票。不要马上评价答案，先保留差异。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互动：举手或投票。不要马上评价答案，先保留差异。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把“范文”讲成数据包，不要只说“给AI看几个例子”。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互动：请学员先读提示词，再说出 AI 缺少的输入。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讲清楚“萃取建模”的价值：不是把故事写得更长，而是把判断标准表达出来。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互动：举手或投票。不要马上评价答案，先保留差异。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让学员先猜，再给出“过拟合”概念。无需进入机器学习数学细节。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互动：请学员现场给一个角色设计“怪癖”和“反转”。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互动：请学员现场给一个角色设计“怪癖”和“反转”。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把“范文”讲成数据包，不要只说“给AI看几个例子”。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请两人互相补充，不要求答案完整。教师把回答归纳成“素材、结构、风格、评价标准”。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用这一页完成第一个案例的闭环，再转入 AI 时代数据价值变化。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P14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P18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你放上我的简历的</a:t>
            </a:r>
            <a:r>
              <a:rPr lang="en-US"/>
              <a:t>MD</a:t>
            </a:r>
            <a:r>
              <a:rPr lang="zh-CN"/>
              <a:t>文件截图。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P25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P27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P29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P30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P33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P38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P39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3" Type="http://schemas.openxmlformats.org/officeDocument/2006/relationships/theme" Target="../theme/theme34.xml"/><Relationship Id="rId22" Type="http://schemas.openxmlformats.org/officeDocument/2006/relationships/image" Target="../media/image6.png"/><Relationship Id="rId21" Type="http://schemas.openxmlformats.org/officeDocument/2006/relationships/slideLayout" Target="../slideLayouts/slideLayout345.xml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6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7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8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7.xml"/><Relationship Id="rId8" Type="http://schemas.openxmlformats.org/officeDocument/2006/relationships/slideLayout" Target="../slideLayouts/slideLayout356.xml"/><Relationship Id="rId7" Type="http://schemas.openxmlformats.org/officeDocument/2006/relationships/slideLayout" Target="../slideLayouts/slideLayout355.xml"/><Relationship Id="rId6" Type="http://schemas.openxmlformats.org/officeDocument/2006/relationships/slideLayout" Target="../slideLayouts/slideLayout354.xml"/><Relationship Id="rId5" Type="http://schemas.openxmlformats.org/officeDocument/2006/relationships/slideLayout" Target="../slideLayouts/slideLayout353.xml"/><Relationship Id="rId4" Type="http://schemas.openxmlformats.org/officeDocument/2006/relationships/slideLayout" Target="../slideLayouts/slideLayout352.xml"/><Relationship Id="rId3" Type="http://schemas.openxmlformats.org/officeDocument/2006/relationships/slideLayout" Target="../slideLayouts/slideLayout351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5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6.xml"/><Relationship Id="rId17" Type="http://schemas.openxmlformats.org/officeDocument/2006/relationships/slideLayout" Target="../slideLayouts/slideLayout365.xml"/><Relationship Id="rId16" Type="http://schemas.openxmlformats.org/officeDocument/2006/relationships/slideLayout" Target="../slideLayouts/slideLayout364.xml"/><Relationship Id="rId15" Type="http://schemas.openxmlformats.org/officeDocument/2006/relationships/slideLayout" Target="../slideLayouts/slideLayout363.xml"/><Relationship Id="rId14" Type="http://schemas.openxmlformats.org/officeDocument/2006/relationships/slideLayout" Target="../slideLayouts/slideLayout362.xml"/><Relationship Id="rId13" Type="http://schemas.openxmlformats.org/officeDocument/2006/relationships/slideLayout" Target="../slideLayouts/slideLayout361.xml"/><Relationship Id="rId12" Type="http://schemas.openxmlformats.org/officeDocument/2006/relationships/slideLayout" Target="../slideLayouts/slideLayout360.xml"/><Relationship Id="rId11" Type="http://schemas.openxmlformats.org/officeDocument/2006/relationships/slideLayout" Target="../slideLayouts/slideLayout359.xml"/><Relationship Id="rId10" Type="http://schemas.openxmlformats.org/officeDocument/2006/relationships/slideLayout" Target="../slideLayouts/slideLayout358.xml"/><Relationship Id="rId1" Type="http://schemas.openxmlformats.org/officeDocument/2006/relationships/slideLayout" Target="../slideLayouts/slideLayout349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7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9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8.xml"/><Relationship Id="rId8" Type="http://schemas.openxmlformats.org/officeDocument/2006/relationships/slideLayout" Target="../slideLayouts/slideLayout377.xml"/><Relationship Id="rId7" Type="http://schemas.openxmlformats.org/officeDocument/2006/relationships/slideLayout" Target="../slideLayouts/slideLayout376.xml"/><Relationship Id="rId6" Type="http://schemas.openxmlformats.org/officeDocument/2006/relationships/slideLayout" Target="../slideLayouts/slideLayout375.xml"/><Relationship Id="rId5" Type="http://schemas.openxmlformats.org/officeDocument/2006/relationships/slideLayout" Target="../slideLayouts/slideLayout374.xml"/><Relationship Id="rId4" Type="http://schemas.openxmlformats.org/officeDocument/2006/relationships/slideLayout" Target="../slideLayouts/slideLayout373.xml"/><Relationship Id="rId3" Type="http://schemas.openxmlformats.org/officeDocument/2006/relationships/slideLayout" Target="../slideLayouts/slideLayout372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71.xml"/><Relationship Id="rId19" Type="http://schemas.openxmlformats.org/officeDocument/2006/relationships/slideLayout" Target="../slideLayouts/slideLayout388.xml"/><Relationship Id="rId18" Type="http://schemas.openxmlformats.org/officeDocument/2006/relationships/slideLayout" Target="../slideLayouts/slideLayout387.xml"/><Relationship Id="rId17" Type="http://schemas.openxmlformats.org/officeDocument/2006/relationships/slideLayout" Target="../slideLayouts/slideLayout386.xml"/><Relationship Id="rId16" Type="http://schemas.openxmlformats.org/officeDocument/2006/relationships/slideLayout" Target="../slideLayouts/slideLayout385.xml"/><Relationship Id="rId15" Type="http://schemas.openxmlformats.org/officeDocument/2006/relationships/slideLayout" Target="../slideLayouts/slideLayout384.xml"/><Relationship Id="rId14" Type="http://schemas.openxmlformats.org/officeDocument/2006/relationships/slideLayout" Target="../slideLayouts/slideLayout383.xml"/><Relationship Id="rId13" Type="http://schemas.openxmlformats.org/officeDocument/2006/relationships/slideLayout" Target="../slideLayouts/slideLayout382.xml"/><Relationship Id="rId12" Type="http://schemas.openxmlformats.org/officeDocument/2006/relationships/slideLayout" Target="../slideLayouts/slideLayout381.xml"/><Relationship Id="rId11" Type="http://schemas.openxmlformats.org/officeDocument/2006/relationships/slideLayout" Target="../slideLayouts/slideLayout380.xml"/><Relationship Id="rId10" Type="http://schemas.openxmlformats.org/officeDocument/2006/relationships/slideLayout" Target="../slideLayouts/slideLayout379.xml"/><Relationship Id="rId1" Type="http://schemas.openxmlformats.org/officeDocument/2006/relationships/slideLayout" Target="../slideLayouts/slideLayout370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8.xml"/><Relationship Id="rId8" Type="http://schemas.openxmlformats.org/officeDocument/2006/relationships/slideLayout" Target="../slideLayouts/slideLayout397.xml"/><Relationship Id="rId7" Type="http://schemas.openxmlformats.org/officeDocument/2006/relationships/slideLayout" Target="../slideLayouts/slideLayout396.xml"/><Relationship Id="rId6" Type="http://schemas.openxmlformats.org/officeDocument/2006/relationships/slideLayout" Target="../slideLayouts/slideLayout395.xml"/><Relationship Id="rId5" Type="http://schemas.openxmlformats.org/officeDocument/2006/relationships/slideLayout" Target="../slideLayouts/slideLayout394.xml"/><Relationship Id="rId4" Type="http://schemas.openxmlformats.org/officeDocument/2006/relationships/slideLayout" Target="../slideLayouts/slideLayout393.xml"/><Relationship Id="rId3" Type="http://schemas.openxmlformats.org/officeDocument/2006/relationships/slideLayout" Target="../slideLayouts/slideLayout392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9.xml"/><Relationship Id="rId2" Type="http://schemas.openxmlformats.org/officeDocument/2006/relationships/slideLayout" Target="../slideLayouts/slideLayout391.xml"/><Relationship Id="rId19" Type="http://schemas.openxmlformats.org/officeDocument/2006/relationships/slideLayout" Target="../slideLayouts/slideLayout408.xml"/><Relationship Id="rId18" Type="http://schemas.openxmlformats.org/officeDocument/2006/relationships/slideLayout" Target="../slideLayouts/slideLayout407.xml"/><Relationship Id="rId17" Type="http://schemas.openxmlformats.org/officeDocument/2006/relationships/slideLayout" Target="../slideLayouts/slideLayout406.xml"/><Relationship Id="rId16" Type="http://schemas.openxmlformats.org/officeDocument/2006/relationships/slideLayout" Target="../slideLayouts/slideLayout405.xml"/><Relationship Id="rId15" Type="http://schemas.openxmlformats.org/officeDocument/2006/relationships/slideLayout" Target="../slideLayouts/slideLayout404.xml"/><Relationship Id="rId14" Type="http://schemas.openxmlformats.org/officeDocument/2006/relationships/slideLayout" Target="../slideLayouts/slideLayout403.xml"/><Relationship Id="rId13" Type="http://schemas.openxmlformats.org/officeDocument/2006/relationships/slideLayout" Target="../slideLayouts/slideLayout402.xml"/><Relationship Id="rId12" Type="http://schemas.openxmlformats.org/officeDocument/2006/relationships/slideLayout" Target="../slideLayouts/slideLayout401.xml"/><Relationship Id="rId11" Type="http://schemas.openxmlformats.org/officeDocument/2006/relationships/slideLayout" Target="../slideLayouts/slideLayout400.xml"/><Relationship Id="rId10" Type="http://schemas.openxmlformats.org/officeDocument/2006/relationships/slideLayout" Target="../slideLayouts/slideLayout399.xml"/><Relationship Id="rId1" Type="http://schemas.openxmlformats.org/officeDocument/2006/relationships/slideLayout" Target="../slideLayouts/slideLayout3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  <p:sldLayoutId id="2147484026" r:id="rId2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46" r:id="rId13"/>
    <p:sldLayoutId id="2147484047" r:id="rId14"/>
    <p:sldLayoutId id="2147484048" r:id="rId15"/>
    <p:sldLayoutId id="2147484049" r:id="rId16"/>
    <p:sldLayoutId id="2147484050" r:id="rId17"/>
    <p:sldLayoutId id="214748405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  <p:sldLayoutId id="2147484070" r:id="rId12"/>
    <p:sldLayoutId id="2147484071" r:id="rId13"/>
    <p:sldLayoutId id="2147484072" r:id="rId14"/>
    <p:sldLayoutId id="2147484073" r:id="rId15"/>
    <p:sldLayoutId id="2147484074" r:id="rId16"/>
    <p:sldLayoutId id="2147484075" r:id="rId17"/>
    <p:sldLayoutId id="2147484076" r:id="rId18"/>
    <p:sldLayoutId id="2147484077" r:id="rId19"/>
    <p:sldLayoutId id="214748407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  <p:sldLayoutId id="2147484091" r:id="rId12"/>
    <p:sldLayoutId id="2147484092" r:id="rId13"/>
    <p:sldLayoutId id="2147484093" r:id="rId14"/>
    <p:sldLayoutId id="2147484094" r:id="rId15"/>
    <p:sldLayoutId id="2147484095" r:id="rId16"/>
    <p:sldLayoutId id="2147484096" r:id="rId17"/>
    <p:sldLayoutId id="2147484097" r:id="rId18"/>
    <p:sldLayoutId id="2147484098" r:id="rId19"/>
    <p:sldLayoutId id="214748409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45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45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45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345.xml"/><Relationship Id="rId4" Type="http://schemas.openxmlformats.org/officeDocument/2006/relationships/image" Target="../media/image18.png"/><Relationship Id="rId3" Type="http://schemas.openxmlformats.org/officeDocument/2006/relationships/tags" Target="../tags/tag3.xml"/><Relationship Id="rId2" Type="http://schemas.openxmlformats.org/officeDocument/2006/relationships/image" Target="../media/image17.png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45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4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345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45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34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45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45.xml"/><Relationship Id="rId2" Type="http://schemas.openxmlformats.org/officeDocument/2006/relationships/image" Target="../media/image27.png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2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3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3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3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3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6860" y="2451735"/>
            <a:ext cx="9299575" cy="1158875"/>
          </a:xfrm>
        </p:spPr>
        <p:txBody>
          <a:bodyPr/>
          <a:lstStyle/>
          <a:p>
            <a:r>
              <a:rPr lang="zh-CN" altLang="en-US" sz="3200" b="1"/>
              <a:t>Vibe Coding  · 继续</a:t>
            </a:r>
            <a:r>
              <a:rPr lang="zh-CN" altLang="en-US" sz="3200" b="1"/>
              <a:t>打磨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这是我的第一版——第一次用AI做简历</a:t>
            </a:r>
            <a:endParaRPr lang="zh-CN" altLang="en-US" sz="28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1011" name="Picture 1010" descr="ppt素材_02_简历网页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160" y="1194435"/>
            <a:ext cx="7942580" cy="4468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059299" y="2938145"/>
            <a:ext cx="65836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那问题出在哪？怎么才能到我的效果</a:t>
            </a:r>
            <a:r>
              <a:rPr lang="zh-CN" altLang="en-US" sz="2400" b="1"/>
              <a:t>呢？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数据</a:t>
            </a:r>
            <a:r>
              <a:rPr lang="zh-CN" sz="2700" b="1">
                <a:solidFill>
                  <a:srgbClr val="111827"/>
                </a:solidFill>
              </a:rPr>
              <a:t>真的</a:t>
            </a:r>
            <a:r>
              <a:rPr sz="2700" b="1">
                <a:solidFill>
                  <a:srgbClr val="111827"/>
                </a:solidFill>
              </a:rPr>
              <a:t>重要吗？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790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现场投票</a:t>
            </a:r>
            <a:endParaRPr sz="1800" b="1">
              <a:solidFill>
                <a:srgbClr val="F59E0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14400" y="257175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FFF1D6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27813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A</a:t>
            </a:r>
            <a:endParaRPr sz="2550" b="1">
              <a:solidFill>
                <a:srgbClr val="F59E0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19250" y="2857500"/>
            <a:ext cx="1952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非常重要</a:t>
            </a:r>
            <a:endParaRPr sz="1725" b="1">
              <a:solidFill>
                <a:srgbClr val="111827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248150" y="257175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57700" y="27813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B</a:t>
            </a:r>
            <a:endParaRPr sz="2550" b="1">
              <a:solidFill>
                <a:srgbClr val="F59E0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53000" y="2857500"/>
            <a:ext cx="1952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有价值，但和我关系不大</a:t>
            </a:r>
            <a:endParaRPr sz="1725" b="1">
              <a:solidFill>
                <a:srgbClr val="111827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581900" y="257175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791450" y="27813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C</a:t>
            </a:r>
            <a:endParaRPr sz="2550" b="1">
              <a:solidFill>
                <a:srgbClr val="F59E0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86750" y="2857500"/>
            <a:ext cx="1952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只对大公司有价值</a:t>
            </a:r>
            <a:endParaRPr sz="1725" b="1">
              <a:solidFill>
                <a:srgbClr val="11182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9" grpId="1"/>
      <p:bldP spid="8" grpId="1"/>
      <p:bldP spid="12" grpId="0"/>
      <p:bldP spid="11" grpId="0"/>
      <p:bldP spid="12" grpId="1"/>
      <p:bldP spid="11" grpId="1"/>
      <p:bldP spid="14" grpId="0"/>
      <p:bldP spid="15" grpId="0"/>
      <p:bldP spid="14" grpId="1"/>
      <p:bldP spid="1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开场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你自己的数据，具体长什么样？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03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80975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请</a:t>
            </a:r>
            <a:r>
              <a:rPr lang="zh-CN" sz="2100" b="1">
                <a:solidFill>
                  <a:srgbClr val="111827"/>
                </a:solidFill>
              </a:rPr>
              <a:t>思考</a:t>
            </a:r>
            <a:r>
              <a:rPr sz="2100" b="1">
                <a:solidFill>
                  <a:srgbClr val="111827"/>
                </a:solidFill>
              </a:rPr>
              <a:t>你手边的 3 份数据</a:t>
            </a:r>
            <a:endParaRPr sz="2100" b="1">
              <a:solidFill>
                <a:srgbClr val="111827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76300" y="2647950"/>
            <a:ext cx="1809750" cy="361950"/>
          </a:xfrm>
          <a:prstGeom prst="roundRect">
            <a:avLst>
              <a:gd name="adj" fmla="val 31579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272415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工作记录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067050" y="2647950"/>
            <a:ext cx="1809750" cy="361950"/>
          </a:xfrm>
          <a:prstGeom prst="roundRect">
            <a:avLst>
              <a:gd name="adj" fmla="val 31579"/>
            </a:avLst>
          </a:prstGeom>
          <a:solidFill>
            <a:srgbClr val="DDF6FA"/>
          </a:solidFill>
          <a:ln w="9525">
            <a:solidFill>
              <a:srgbClr val="DDF6F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181350" y="272415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学生作业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257800" y="2647950"/>
            <a:ext cx="1809750" cy="361950"/>
          </a:xfrm>
          <a:prstGeom prst="roundRect">
            <a:avLst>
              <a:gd name="adj" fmla="val 31579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72100" y="272415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客户聊天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76300" y="3295650"/>
            <a:ext cx="1809750" cy="361950"/>
          </a:xfrm>
          <a:prstGeom prst="roundRect">
            <a:avLst>
              <a:gd name="adj" fmla="val 31579"/>
            </a:avLst>
          </a:prstGeom>
          <a:solidFill>
            <a:srgbClr val="DDF6FA"/>
          </a:solidFill>
          <a:ln w="9525">
            <a:solidFill>
              <a:srgbClr val="DDF6F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337185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讲课录音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067050" y="3295650"/>
            <a:ext cx="1809750" cy="361950"/>
          </a:xfrm>
          <a:prstGeom prst="roundRect">
            <a:avLst>
              <a:gd name="adj" fmla="val 31579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181350" y="337185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错题与复盘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257800" y="3295650"/>
            <a:ext cx="1809750" cy="361950"/>
          </a:xfrm>
          <a:prstGeom prst="roundRect">
            <a:avLst>
              <a:gd name="adj" fmla="val 31579"/>
            </a:avLst>
          </a:prstGeom>
          <a:solidFill>
            <a:srgbClr val="DDF6FA"/>
          </a:solidFill>
          <a:ln w="9525">
            <a:solidFill>
              <a:srgbClr val="DDF6F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372100" y="337185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方案 / 代码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4667250"/>
            <a:ext cx="800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5B6472"/>
                </a:solidFill>
              </a:defRPr>
            </a:pPr>
            <a:r>
              <a:rPr sz="3600" b="1">
                <a:solidFill>
                  <a:srgbClr val="5B6472"/>
                </a:solidFill>
              </a:rPr>
              <a:t>这份数据未来可以帮助 AI 做什么？</a:t>
            </a:r>
            <a:endParaRPr sz="3600" b="1">
              <a:solidFill>
                <a:srgbClr val="5B647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04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1225" y="29972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2700" b="1">
                <a:solidFill>
                  <a:srgbClr val="111827"/>
                </a:solidFill>
              </a:defRPr>
            </a:pPr>
            <a:r>
              <a:rPr lang="en-US" sz="2700" b="1">
                <a:solidFill>
                  <a:srgbClr val="111827"/>
                </a:solidFill>
              </a:rPr>
              <a:t>         </a:t>
            </a:r>
            <a:r>
              <a:rPr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从一个小故事</a:t>
            </a:r>
            <a:r>
              <a:rPr lang="zh-CN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开始！！！！</a:t>
            </a:r>
            <a:endParaRPr lang="zh-CN" sz="3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睡前故事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lang="zh-CN" sz="2700" b="1">
                <a:solidFill>
                  <a:srgbClr val="111827"/>
                </a:solidFill>
              </a:rPr>
              <a:t>睡前</a:t>
            </a:r>
            <a:r>
              <a:rPr lang="zh-CN" sz="2700" b="1">
                <a:solidFill>
                  <a:srgbClr val="111827"/>
                </a:solidFill>
              </a:rPr>
              <a:t>故事</a:t>
            </a:r>
            <a:endParaRPr lang="zh-CN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05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7907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真实场景</a:t>
            </a:r>
            <a:endParaRPr sz="1650" b="1">
              <a:solidFill>
                <a:srgbClr val="F59E0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362200"/>
            <a:ext cx="699516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</a:rPr>
              <a:t>•</a:t>
            </a:r>
            <a:r>
              <a:rPr sz="2800" b="0">
                <a:solidFill>
                  <a:srgbClr val="111827"/>
                </a:solidFill>
              </a:rPr>
              <a:t> </a:t>
            </a:r>
            <a:r>
              <a:rPr lang="en-US" sz="2800" b="0">
                <a:solidFill>
                  <a:srgbClr val="111827"/>
                </a:solidFill>
              </a:rPr>
              <a:t>4</a:t>
            </a:r>
            <a:r>
              <a:rPr sz="2800" b="0">
                <a:solidFill>
                  <a:srgbClr val="111827"/>
                </a:solidFill>
              </a:rPr>
              <a:t>岁</a:t>
            </a:r>
            <a:r>
              <a:rPr lang="zh-CN" sz="2800" b="0">
                <a:solidFill>
                  <a:srgbClr val="111827"/>
                </a:solidFill>
              </a:rPr>
              <a:t>孩</a:t>
            </a:r>
            <a:r>
              <a:rPr sz="2800" b="0">
                <a:solidFill>
                  <a:srgbClr val="111827"/>
                </a:solidFill>
              </a:rPr>
              <a:t>子喜欢《植物大战僵尸》和《汪汪队》</a:t>
            </a:r>
            <a:endParaRPr sz="2800" b="0">
              <a:solidFill>
                <a:srgbClr val="11182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819400"/>
            <a:ext cx="8254365" cy="632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11827"/>
                </a:solidFill>
              </a:defRPr>
            </a:pPr>
            <a:r>
              <a:rPr sz="2800" b="0">
                <a:solidFill>
                  <a:srgbClr val="111827"/>
                </a:solidFill>
              </a:rPr>
              <a:t>• 每次要讲 20–30 分钟</a:t>
            </a:r>
            <a:r>
              <a:rPr lang="zh-CN" sz="2800" b="0">
                <a:solidFill>
                  <a:srgbClr val="111827"/>
                </a:solidFill>
              </a:rPr>
              <a:t>杂交版</a:t>
            </a:r>
            <a:r>
              <a:rPr sz="2800" b="0">
                <a:solidFill>
                  <a:srgbClr val="111827"/>
                </a:solidFill>
              </a:rPr>
              <a:t>，且要有反转和悬念</a:t>
            </a:r>
            <a:endParaRPr sz="2800" b="0">
              <a:solidFill>
                <a:srgbClr val="111827"/>
              </a:solidFill>
            </a:endParaRPr>
          </a:p>
          <a:p>
            <a:pPr>
              <a:defRPr sz="1800" b="0">
                <a:solidFill>
                  <a:srgbClr val="111827"/>
                </a:solidFill>
              </a:defRPr>
            </a:pPr>
            <a:endParaRPr sz="2800" b="0">
              <a:solidFill>
                <a:srgbClr val="111827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82845" y="4705350"/>
            <a:ext cx="60852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俩三个之后，才会就枯竭了，</a:t>
            </a:r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怎么办？</a:t>
            </a:r>
            <a:endParaRPr lang="zh-CN" alt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73830" y="3789045"/>
            <a:ext cx="724916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每次花费的时间，至少需要我</a:t>
            </a:r>
            <a:r>
              <a:rPr lang="en-US" altLang="zh-CN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2</a:t>
            </a:r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ea typeface="宋体" charset="0"/>
              </a:rPr>
              <a:t>～</a:t>
            </a:r>
            <a:r>
              <a:rPr lang="en-US" altLang="zh-CN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ea typeface="宋体" charset="0"/>
              </a:rPr>
              <a:t>3</a:t>
            </a:r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ea typeface="宋体" charset="0"/>
              </a:rPr>
              <a:t>个小时</a:t>
            </a:r>
            <a:endParaRPr lang="zh-CN" alt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3" grpId="0"/>
      <p:bldP spid="1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睡前故事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第一次</a:t>
            </a:r>
            <a:r>
              <a:rPr lang="zh-CN" sz="2700" b="1">
                <a:solidFill>
                  <a:srgbClr val="111827"/>
                </a:solidFill>
                <a:ea typeface="宋体" charset="0"/>
              </a:rPr>
              <a:t>：</a:t>
            </a:r>
            <a:r>
              <a:rPr sz="2700" b="1">
                <a:solidFill>
                  <a:srgbClr val="111827"/>
                </a:solidFill>
              </a:rPr>
              <a:t>直接问</a:t>
            </a:r>
            <a:r>
              <a:rPr lang="zh-CN" sz="2700" b="1">
                <a:solidFill>
                  <a:srgbClr val="111827"/>
                </a:solidFill>
              </a:rPr>
              <a:t>豆包</a:t>
            </a:r>
            <a:endParaRPr lang="zh-CN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06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809750"/>
            <a:ext cx="4762500" cy="26670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62050" y="20955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提示词</a:t>
            </a:r>
            <a:endParaRPr sz="1500" b="1">
              <a:solidFill>
                <a:srgbClr val="F59E0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62050" y="2609850"/>
            <a:ext cx="3905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“帮我讲一个植物大战僵尸和汪汪队结合的故事，要有趣一点。”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286500" y="1809750"/>
            <a:ext cx="4286250" cy="2667000"/>
          </a:xfrm>
          <a:prstGeom prst="roundRect">
            <a:avLst>
              <a:gd name="adj" fmla="val 4286"/>
            </a:avLst>
          </a:prstGeom>
          <a:solidFill>
            <a:srgbClr val="FFF8F0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572250" y="20955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D94A4A"/>
                </a:solidFill>
              </a:defRPr>
            </a:pPr>
            <a:r>
              <a:rPr sz="1500" b="1">
                <a:solidFill>
                  <a:srgbClr val="D94A4A"/>
                </a:solidFill>
              </a:rPr>
              <a:t>输出问题</a:t>
            </a:r>
            <a:endParaRPr sz="1500" b="1">
              <a:solidFill>
                <a:srgbClr val="D94A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266700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角色性格飘忽</a:t>
            </a:r>
            <a:endParaRPr sz="1650" b="0">
              <a:solidFill>
                <a:srgbClr val="11182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72250" y="308610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反转像硬塞进去</a:t>
            </a:r>
            <a:endParaRPr sz="1650" b="0">
              <a:solidFill>
                <a:srgbClr val="11182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72250" y="350520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上下衔接不稳定</a:t>
            </a:r>
            <a:endParaRPr sz="1650" b="0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72250" y="392430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“有趣一点”无法执行</a:t>
            </a:r>
            <a:endParaRPr sz="1650" b="0">
              <a:solidFill>
                <a:srgbClr val="111827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16275" y="4921250"/>
            <a:ext cx="5615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怎么办呢？</a:t>
            </a:r>
            <a:endParaRPr lang="zh-CN" altLang="en-US" sz="3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7" grpId="1"/>
      <p:bldP spid="8" grpId="1"/>
      <p:bldP spid="10" grpId="0"/>
      <p:bldP spid="11" grpId="0"/>
      <p:bldP spid="12" grpId="0"/>
      <p:bldP spid="13" grpId="0"/>
      <p:bldP spid="14" grpId="0"/>
      <p:bldP spid="10" grpId="1"/>
      <p:bldP spid="11" grpId="1"/>
      <p:bldP spid="12" grpId="1"/>
      <p:bldP spid="13" grpId="1"/>
      <p:bldP spid="1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睡前故事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第</a:t>
            </a:r>
            <a:r>
              <a:rPr lang="zh-CN" sz="2700" b="1">
                <a:solidFill>
                  <a:srgbClr val="111827"/>
                </a:solidFill>
              </a:rPr>
              <a:t>二</a:t>
            </a:r>
            <a:r>
              <a:rPr sz="2700" b="1">
                <a:solidFill>
                  <a:srgbClr val="111827"/>
                </a:solidFill>
              </a:rPr>
              <a:t>步</a:t>
            </a:r>
            <a:r>
              <a:rPr lang="zh-CN" sz="2700" b="1">
                <a:solidFill>
                  <a:srgbClr val="111827"/>
                </a:solidFill>
                <a:ea typeface="宋体" charset="0"/>
              </a:rPr>
              <a:t>：</a:t>
            </a:r>
            <a:r>
              <a:rPr sz="2700" b="1">
                <a:solidFill>
                  <a:srgbClr val="111827"/>
                </a:solidFill>
              </a:rPr>
              <a:t>积累原始案例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08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47650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2590800"/>
            <a:ext cx="58674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01</a:t>
            </a:r>
            <a:endParaRPr sz="2100" b="1">
              <a:solidFill>
                <a:srgbClr val="F59E0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295275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手机录音</a:t>
            </a:r>
            <a:endParaRPr sz="1500" b="1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381250" y="27432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  <a:endParaRPr sz="2250" b="1">
              <a:solidFill>
                <a:srgbClr val="5B6472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971800" y="247650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124200" y="2590800"/>
            <a:ext cx="850265" cy="451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02</a:t>
            </a:r>
            <a:endParaRPr sz="2100" b="1">
              <a:solidFill>
                <a:srgbClr val="F59E0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24200" y="295275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AI转写</a:t>
            </a:r>
            <a:endParaRPr sz="1500" b="1">
              <a:solidFill>
                <a:srgbClr val="11182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76750" y="27432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  <a:endParaRPr sz="2250" b="1">
              <a:solidFill>
                <a:srgbClr val="5B6472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067300" y="247650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219700" y="2590800"/>
            <a:ext cx="685800" cy="448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03</a:t>
            </a:r>
            <a:endParaRPr sz="2100" b="1">
              <a:solidFill>
                <a:srgbClr val="F59E0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19700" y="2952750"/>
            <a:ext cx="1585595" cy="448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人工校对</a:t>
            </a:r>
            <a:endParaRPr sz="1500" b="1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72250" y="27432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  <a:endParaRPr sz="2250" b="1">
              <a:solidFill>
                <a:srgbClr val="5B6472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162800" y="247650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315200" y="2590800"/>
            <a:ext cx="819785" cy="53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04</a:t>
            </a:r>
            <a:endParaRPr sz="2100" b="1">
              <a:solidFill>
                <a:srgbClr val="F59E0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315200" y="2952750"/>
            <a:ext cx="137033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标记起承转合</a:t>
            </a:r>
            <a:endParaRPr sz="1500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67750" y="27432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  <a:endParaRPr sz="2250" b="1">
              <a:solidFill>
                <a:srgbClr val="5B6472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258300" y="247650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DDF6FA"/>
          </a:solidFill>
          <a:ln w="9525">
            <a:solidFill>
              <a:srgbClr val="DDF6F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410700" y="2590800"/>
            <a:ext cx="7569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0A6C8"/>
                </a:solidFill>
              </a:defRPr>
            </a:pPr>
            <a:r>
              <a:rPr sz="2100" b="1">
                <a:solidFill>
                  <a:srgbClr val="00A6C8"/>
                </a:solidFill>
              </a:rPr>
              <a:t>05</a:t>
            </a:r>
            <a:endParaRPr sz="2100" b="1">
              <a:solidFill>
                <a:srgbClr val="00A6C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410700" y="2952750"/>
            <a:ext cx="1748155" cy="38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Markdown归档</a:t>
            </a:r>
            <a:endParaRPr sz="1500" b="1">
              <a:solidFill>
                <a:srgbClr val="11182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447675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原始音频只是“有数据”；整理后，AI 才真正看得懂。</a:t>
            </a:r>
            <a:endParaRPr sz="1950" b="1">
              <a:solidFill>
                <a:srgbClr val="111827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4825" y="3903980"/>
            <a:ext cx="5235575" cy="2014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7" grpId="1"/>
      <p:bldP spid="8" grpId="1"/>
      <p:bldP spid="12" grpId="0"/>
      <p:bldP spid="11" grpId="0"/>
      <p:bldP spid="12" grpId="1"/>
      <p:bldP spid="11" grpId="1"/>
      <p:bldP spid="15" grpId="0"/>
      <p:bldP spid="16" grpId="0"/>
      <p:bldP spid="15" grpId="1"/>
      <p:bldP spid="16" grpId="1"/>
      <p:bldP spid="20" grpId="0"/>
      <p:bldP spid="19" grpId="0"/>
      <p:bldP spid="20" grpId="1"/>
      <p:bldP spid="19" grpId="1"/>
      <p:bldP spid="23" grpId="0"/>
      <p:bldP spid="24" grpId="0"/>
      <p:bldP spid="23" grpId="1"/>
      <p:bldP spid="24" grpId="1"/>
      <p:bldP spid="25" grpId="0"/>
      <p:bldP spid="2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开场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lang="zh-CN" sz="2700" b="1">
                <a:solidFill>
                  <a:srgbClr val="111827"/>
                </a:solidFill>
              </a:rPr>
              <a:t>积累录音</a:t>
            </a:r>
            <a:r>
              <a:rPr lang="zh-CN" sz="2700" b="1">
                <a:solidFill>
                  <a:srgbClr val="111827"/>
                </a:solidFill>
              </a:rPr>
              <a:t>案例</a:t>
            </a:r>
            <a:endParaRPr lang="zh-CN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02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1596390"/>
            <a:ext cx="4864100" cy="4165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50" y="188595"/>
            <a:ext cx="7863205" cy="6464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705" y="260985"/>
            <a:ext cx="7613650" cy="6273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开场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lang="zh-CN" sz="2700" b="1">
                <a:solidFill>
                  <a:srgbClr val="111827"/>
                </a:solidFill>
              </a:rPr>
              <a:t>积累录音</a:t>
            </a:r>
            <a:r>
              <a:rPr lang="zh-CN" sz="2700" b="1">
                <a:solidFill>
                  <a:srgbClr val="111827"/>
                </a:solidFill>
              </a:rPr>
              <a:t>案例</a:t>
            </a:r>
            <a:endParaRPr lang="zh-CN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02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9425" y="2276475"/>
            <a:ext cx="4784090" cy="30816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91810" y="2564765"/>
            <a:ext cx="53975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lang="zh-CN" sz="2700" b="1">
                <a:solidFill>
                  <a:srgbClr val="111827"/>
                </a:solidFill>
              </a:rPr>
              <a:t>互动</a:t>
            </a:r>
            <a:endParaRPr lang="zh-CN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02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文本框 5"/>
          <p:cNvSpPr txBox="1"/>
          <p:nvPr/>
        </p:nvSpPr>
        <p:spPr>
          <a:xfrm>
            <a:off x="2351405" y="2636520"/>
            <a:ext cx="9051925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这一版最后效果怎么样？</a:t>
            </a:r>
            <a:endParaRPr lang="zh-CN" altLang="en-US" sz="3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睡前故事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4篇范文，让AI从“随机”变成“有点像”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09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847850"/>
            <a:ext cx="4000500" cy="2381250"/>
          </a:xfrm>
          <a:prstGeom prst="roundRect">
            <a:avLst>
              <a:gd name="adj" fmla="val 6400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23431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rPr sz="2400" b="1">
                <a:solidFill>
                  <a:srgbClr val="F59E0B"/>
                </a:solidFill>
              </a:rPr>
              <a:t>4篇满意故事</a:t>
            </a:r>
            <a:endParaRPr sz="2400" b="1">
              <a:solidFill>
                <a:srgbClr val="F59E0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32194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角色 + 结构 + 语言 + 反转</a:t>
            </a:r>
            <a:endParaRPr sz="1575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762750" y="25146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D94A4A"/>
                </a:solidFill>
              </a:defRPr>
            </a:pPr>
            <a:r>
              <a:rPr sz="3600" b="1">
                <a:solidFill>
                  <a:srgbClr val="D94A4A"/>
                </a:solidFill>
              </a:rPr>
              <a:t>≈ 50分</a:t>
            </a:r>
            <a:endParaRPr sz="3600" b="1">
              <a:solidFill>
                <a:srgbClr val="D94A4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3429000"/>
            <a:ext cx="381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质量提升，但仍然随机、飘忽、衔接不稳</a:t>
            </a:r>
            <a:endParaRPr sz="1650">
              <a:solidFill>
                <a:srgbClr val="5B647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27125" y="4798060"/>
            <a:ext cx="57518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为啥？</a:t>
            </a:r>
            <a:r>
              <a:rPr lang="en-US" altLang="zh-CN" sz="3200" b="1"/>
              <a:t> </a:t>
            </a:r>
            <a:endParaRPr lang="en-US" altLang="zh-CN" sz="3200" b="1"/>
          </a:p>
        </p:txBody>
      </p:sp>
      <p:sp>
        <p:nvSpPr>
          <p:cNvPr id="13" name="文本框 12"/>
          <p:cNvSpPr txBox="1"/>
          <p:nvPr/>
        </p:nvSpPr>
        <p:spPr>
          <a:xfrm>
            <a:off x="4295775" y="4819650"/>
            <a:ext cx="66414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你给了</a:t>
            </a:r>
            <a:r>
              <a:rPr lang="en-US" altLang="zh-CN" sz="3200" b="1"/>
              <a:t>AI</a:t>
            </a:r>
            <a:r>
              <a:rPr lang="zh-CN" altLang="en-US" sz="3200" b="1"/>
              <a:t>数据，</a:t>
            </a:r>
            <a:r>
              <a:rPr lang="en-US" altLang="zh-CN" sz="3200" b="1"/>
              <a:t>AI</a:t>
            </a:r>
            <a:r>
              <a:rPr lang="zh-CN" altLang="en-US" sz="3200" b="1"/>
              <a:t>不知道怎么用啊！</a:t>
            </a:r>
            <a:r>
              <a:rPr lang="en-US" altLang="zh-CN" sz="3200" b="1"/>
              <a:t> </a:t>
            </a:r>
            <a:endParaRPr lang="en-US" altLang="zh-CN" sz="32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7" grpId="1"/>
      <p:bldP spid="8" grpId="1"/>
      <p:bldP spid="9" grpId="0"/>
      <p:bldP spid="10" grpId="0"/>
      <p:bldP spid="9" grpId="1"/>
      <p:bldP spid="10" grpId="1"/>
      <p:bldP spid="12" grpId="0"/>
      <p:bldP spid="12" grpId="1"/>
      <p:bldP spid="13" grpId="0"/>
      <p:bldP spid="1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睡前故事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lang="zh-CN">
                <a:sym typeface="+mn-ea"/>
              </a:rPr>
              <a:t>形成创作指南</a:t>
            </a:r>
            <a:endParaRPr lang="zh-CN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06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809750"/>
            <a:ext cx="9192895" cy="3500755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62050" y="20955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提示词</a:t>
            </a:r>
            <a:endParaRPr sz="1500" b="1">
              <a:solidFill>
                <a:srgbClr val="F59E0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62050" y="2853055"/>
            <a:ext cx="8992870" cy="15043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11827"/>
                </a:solidFill>
              </a:defRPr>
            </a:pPr>
            <a:r>
              <a:rPr sz="3200" b="1">
                <a:solidFill>
                  <a:srgbClr val="111827"/>
                </a:solidFill>
              </a:rPr>
              <a:t>这是我写的几个故事，未来我想百分百复刻这个水平，你帮我建个模，我之前讲故事的大概思路是xxx</a:t>
            </a:r>
            <a:endParaRPr sz="3200" b="1">
              <a:solidFill>
                <a:srgbClr val="11182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7" grpId="1"/>
      <p:bldP spid="8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睡前故事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0545" y="685800"/>
            <a:ext cx="1095565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从范文中提炼规律，AI开始学会“为什么这样写”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10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268730"/>
            <a:ext cx="7728585" cy="549973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485" y="1268730"/>
            <a:ext cx="6742430" cy="545147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115" y="1320165"/>
            <a:ext cx="7244080" cy="556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lang="zh-CN" sz="2700" b="1">
                <a:solidFill>
                  <a:srgbClr val="111827"/>
                </a:solidFill>
              </a:rPr>
              <a:t>《创作指南》</a:t>
            </a:r>
            <a:r>
              <a:rPr lang="en-US" altLang="zh-CN" sz="2700" b="1">
                <a:solidFill>
                  <a:srgbClr val="111827"/>
                </a:solidFill>
              </a:rPr>
              <a:t>+</a:t>
            </a:r>
            <a:r>
              <a:rPr lang="zh-CN" altLang="en-US" sz="2700" b="1">
                <a:solidFill>
                  <a:srgbClr val="111827"/>
                </a:solidFill>
                <a:ea typeface="宋体" charset="0"/>
              </a:rPr>
              <a:t>《</a:t>
            </a:r>
            <a:r>
              <a:rPr lang="en-US" altLang="zh-CN" sz="2700" b="1">
                <a:solidFill>
                  <a:srgbClr val="111827"/>
                </a:solidFill>
                <a:ea typeface="宋体" charset="0"/>
              </a:rPr>
              <a:t>4</a:t>
            </a:r>
            <a:r>
              <a:rPr lang="zh-CN" altLang="en-US" sz="2700" b="1">
                <a:solidFill>
                  <a:srgbClr val="111827"/>
                </a:solidFill>
                <a:ea typeface="宋体" charset="0"/>
              </a:rPr>
              <a:t>篇</a:t>
            </a:r>
            <a:r>
              <a:rPr lang="zh-CN" altLang="en-US" sz="2700" b="1">
                <a:solidFill>
                  <a:srgbClr val="111827"/>
                </a:solidFill>
                <a:ea typeface="宋体" charset="0"/>
              </a:rPr>
              <a:t>范文》</a:t>
            </a:r>
            <a:endParaRPr lang="zh-CN" altLang="en-US" sz="2700" b="1">
              <a:solidFill>
                <a:srgbClr val="111827"/>
              </a:solidFill>
              <a:ea typeface="宋体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02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文本框 5"/>
          <p:cNvSpPr txBox="1"/>
          <p:nvPr/>
        </p:nvSpPr>
        <p:spPr>
          <a:xfrm>
            <a:off x="2207260" y="1788160"/>
            <a:ext cx="9051925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这一版最后效果怎么样？</a:t>
            </a:r>
            <a:endParaRPr lang="zh-CN" altLang="en-US" sz="3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3025" y="3141345"/>
            <a:ext cx="895286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  </a:t>
            </a:r>
            <a:r>
              <a:rPr lang="zh-CN" altLang="en-US" sz="3200"/>
              <a:t>诶呦不错，又进步了，达到我差不多七八成的功力了，</a:t>
            </a:r>
            <a:endParaRPr lang="zh-CN" altLang="en-US" sz="3200"/>
          </a:p>
          <a:p>
            <a:endParaRPr lang="zh-CN" altLang="en-US" sz="3200"/>
          </a:p>
          <a:p>
            <a:r>
              <a:rPr lang="zh-CN" altLang="en-US" sz="3200"/>
              <a:t> </a:t>
            </a:r>
            <a:r>
              <a:rPr lang="en-US" altLang="zh-CN" sz="3200"/>
              <a:t> </a:t>
            </a:r>
            <a:r>
              <a:rPr lang="zh-CN" altLang="en-US" sz="3200"/>
              <a:t>但是写了一两篇测试以后，发现套路越来越像，情节</a:t>
            </a:r>
            <a:r>
              <a:rPr lang="zh-CN" altLang="en-US"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越来越重合，越来越无趣</a:t>
            </a:r>
            <a:r>
              <a:rPr lang="zh-CN" altLang="en-US" sz="3200"/>
              <a:t>，都是【胆小/内向/发现潜力/找家长/英雄之旅】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互动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为什么质量提升后，故事反而变无聊？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11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11225" y="198882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F59E0B"/>
                </a:solidFill>
              </a:defRPr>
            </a:pPr>
            <a:r>
              <a:rPr sz="3600" b="1">
                <a:solidFill>
                  <a:srgbClr val="F59E0B"/>
                </a:solidFill>
              </a:rPr>
              <a:t>请先预测原因</a:t>
            </a:r>
            <a:r>
              <a:rPr lang="zh-CN" sz="3600" b="1">
                <a:solidFill>
                  <a:srgbClr val="F59E0B"/>
                </a:solidFill>
                <a:ea typeface="宋体" charset="0"/>
              </a:rPr>
              <a:t>？</a:t>
            </a:r>
            <a:endParaRPr lang="zh-CN" sz="3600" b="1">
              <a:solidFill>
                <a:srgbClr val="F59E0B"/>
              </a:solidFill>
              <a:ea typeface="宋体" charset="0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1225" y="3429000"/>
            <a:ext cx="10644505" cy="763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rPr sz="2800" b="1">
                <a:solidFill>
                  <a:srgbClr val="111827"/>
                </a:solidFill>
              </a:rPr>
              <a:t>答案：小样本过拟合。数据不足时，模型会把“风格”误学成“套路”</a:t>
            </a:r>
            <a:r>
              <a:rPr sz="1800" b="1">
                <a:solidFill>
                  <a:srgbClr val="111827"/>
                </a:solidFill>
              </a:rPr>
              <a:t>。</a:t>
            </a:r>
            <a:endParaRPr sz="1800" b="1">
              <a:solidFill>
                <a:srgbClr val="11182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5" grpId="0"/>
      <p:bldP spid="1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睡前故事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主动补充创意数据</a:t>
            </a:r>
            <a:endParaRPr lang="en-US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12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0" name="文本框 19"/>
          <p:cNvSpPr txBox="1"/>
          <p:nvPr/>
        </p:nvSpPr>
        <p:spPr>
          <a:xfrm>
            <a:off x="4972050" y="4509135"/>
            <a:ext cx="6096000" cy="391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950" b="1">
                <a:solidFill>
                  <a:srgbClr val="111827"/>
                </a:solidFill>
                <a:sym typeface="+mn-ea"/>
              </a:rPr>
              <a:t>4篇范文 + 创作指南 + 30个选题策划</a:t>
            </a:r>
            <a:endParaRPr lang="zh-CN" altLang="en-US" sz="1950" b="1">
              <a:solidFill>
                <a:srgbClr val="111827"/>
              </a:solidFill>
              <a:sym typeface="+mn-ea"/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55370" y="1533525"/>
            <a:ext cx="9043670" cy="341884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341120" y="206121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提示词</a:t>
            </a:r>
            <a:endParaRPr sz="1500" b="1">
              <a:solidFill>
                <a:srgbClr val="F59E0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341120" y="2656840"/>
            <a:ext cx="8992870" cy="15043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1950" b="1">
                <a:solidFill>
                  <a:srgbClr val="111827"/>
                </a:solidFill>
              </a:defRPr>
            </a:pPr>
            <a:r>
              <a:rPr sz="3200" b="1">
                <a:solidFill>
                  <a:srgbClr val="111827"/>
                </a:solidFill>
              </a:rPr>
              <a:t>故事优点做到了，但是不同创作之间的随机性不够，我想要xx、xxx、xx每次都随机，你帮我做一个30个选题策划吧，并且按照SABC倒序排列</a:t>
            </a:r>
            <a:endParaRPr sz="3200" b="1">
              <a:solidFill>
                <a:srgbClr val="111827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82980" y="5190490"/>
            <a:ext cx="90125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  结果： AI生成数据包《30个选题策划案》</a:t>
            </a:r>
            <a:endParaRPr lang="zh-CN" altLang="en-US" sz="3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2" grpId="1"/>
      <p:bldP spid="23" grpId="1"/>
      <p:bldP spid="24" grpId="0"/>
      <p:bldP spid="2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睡前故事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主动补充创意数据</a:t>
            </a:r>
            <a:endParaRPr lang="en-US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12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286000"/>
            <a:ext cx="2095500" cy="1524000"/>
          </a:xfrm>
          <a:prstGeom prst="roundRect">
            <a:avLst>
              <a:gd name="adj" fmla="val 7500"/>
            </a:avLst>
          </a:prstGeom>
          <a:solidFill>
            <a:srgbClr val="FFE4E4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62050" y="253365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D94A4A"/>
                </a:solidFill>
              </a:defRPr>
            </a:pPr>
            <a:r>
              <a:rPr sz="3150" b="1">
                <a:solidFill>
                  <a:srgbClr val="D94A4A"/>
                </a:solidFill>
              </a:rPr>
              <a:t>S</a:t>
            </a:r>
            <a:endParaRPr sz="3150" b="1">
              <a:solidFill>
                <a:srgbClr val="D94A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62050" y="32194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脑洞极大</a:t>
            </a:r>
            <a:endParaRPr sz="1725" b="1">
              <a:solidFill>
                <a:srgbClr val="111827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448050" y="2286000"/>
            <a:ext cx="2095500" cy="1524000"/>
          </a:xfrm>
          <a:prstGeom prst="roundRect">
            <a:avLst>
              <a:gd name="adj" fmla="val 7500"/>
            </a:avLst>
          </a:prstGeom>
          <a:solidFill>
            <a:srgbClr val="FFF1D6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733800" y="253365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59E0B"/>
                </a:solidFill>
              </a:defRPr>
            </a:pPr>
            <a:r>
              <a:rPr sz="3150" b="1">
                <a:solidFill>
                  <a:srgbClr val="F59E0B"/>
                </a:solidFill>
              </a:rPr>
              <a:t>A</a:t>
            </a:r>
            <a:endParaRPr sz="3150" b="1">
              <a:solidFill>
                <a:srgbClr val="F59E0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733800" y="32194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结构稳健</a:t>
            </a:r>
            <a:endParaRPr sz="1725" b="1">
              <a:solidFill>
                <a:srgbClr val="111827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019800" y="2286000"/>
            <a:ext cx="2095500" cy="1524000"/>
          </a:xfrm>
          <a:prstGeom prst="roundRect">
            <a:avLst>
              <a:gd name="adj" fmla="val 7500"/>
            </a:avLst>
          </a:prstGeom>
          <a:solidFill>
            <a:srgbClr val="DDF6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05550" y="253365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0A6C8"/>
                </a:solidFill>
              </a:defRPr>
            </a:pPr>
            <a:r>
              <a:rPr sz="3150" b="1">
                <a:solidFill>
                  <a:srgbClr val="00A6C8"/>
                </a:solidFill>
              </a:rPr>
              <a:t>B</a:t>
            </a:r>
            <a:endParaRPr sz="3150" b="1">
              <a:solidFill>
                <a:srgbClr val="00A6C8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05550" y="32194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交作业级</a:t>
            </a:r>
            <a:endParaRPr sz="1725" b="1">
              <a:solidFill>
                <a:srgbClr val="111827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591550" y="2286000"/>
            <a:ext cx="2095500" cy="15240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77300" y="253365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5B6472"/>
                </a:solidFill>
              </a:defRPr>
            </a:pPr>
            <a:r>
              <a:rPr sz="3150" b="1">
                <a:solidFill>
                  <a:srgbClr val="5B6472"/>
                </a:solidFill>
              </a:rPr>
              <a:t>C</a:t>
            </a:r>
            <a:endParaRPr sz="3150" b="1">
              <a:solidFill>
                <a:srgbClr val="5B647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877300" y="32194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填充选题</a:t>
            </a:r>
            <a:endParaRPr sz="1725" b="1">
              <a:solidFill>
                <a:srgbClr val="111827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72050" y="4509135"/>
            <a:ext cx="6096000" cy="391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950" b="1">
                <a:solidFill>
                  <a:srgbClr val="111827"/>
                </a:solidFill>
                <a:sym typeface="+mn-ea"/>
              </a:rPr>
              <a:t>4篇范文 + 创作指南 + 30个选题策划</a:t>
            </a:r>
            <a:endParaRPr lang="zh-CN" altLang="en-US" sz="1950" b="1">
              <a:solidFill>
                <a:srgbClr val="111827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76300" y="4531995"/>
            <a:ext cx="325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我的数据有</a:t>
            </a:r>
            <a:r>
              <a:rPr lang="zh-CN" altLang="en-US"/>
              <a:t>哪些？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睡前故事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lang="zh-CN" sz="2700" b="1">
                <a:solidFill>
                  <a:srgbClr val="111827"/>
                </a:solidFill>
              </a:rPr>
              <a:t>创意数据包</a:t>
            </a:r>
            <a:endParaRPr lang="zh-CN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09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1336040"/>
            <a:ext cx="10281285" cy="54787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060" y="116205"/>
            <a:ext cx="9313545" cy="68580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595" y="95250"/>
            <a:ext cx="8404225" cy="6858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350" y="0"/>
            <a:ext cx="10218420" cy="68580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5595" y="44450"/>
            <a:ext cx="79121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互动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lang="zh-CN" sz="2700" b="1">
                <a:solidFill>
                  <a:srgbClr val="111827"/>
                </a:solidFill>
              </a:rPr>
              <a:t>这一版效果，你觉得会</a:t>
            </a:r>
            <a:r>
              <a:rPr lang="zh-CN" sz="2700" b="1">
                <a:solidFill>
                  <a:srgbClr val="111827"/>
                </a:solidFill>
              </a:rPr>
              <a:t>如何？</a:t>
            </a:r>
            <a:endParaRPr lang="zh-CN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07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6" name="文本框 15"/>
          <p:cNvSpPr txBox="1"/>
          <p:nvPr/>
        </p:nvSpPr>
        <p:spPr>
          <a:xfrm>
            <a:off x="1428115" y="2061210"/>
            <a:ext cx="93364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我感觉它能几乎100%临摹我的水平了，而且又有源源不断的脑洞和创意，经常给我很多意外的惊喜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800600" y="3861435"/>
            <a:ext cx="5482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大家有一点点初步的体感了么?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  <p:bldP spid="17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案例一 / 收束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lang="zh-CN" sz="2700" b="1">
                <a:solidFill>
                  <a:srgbClr val="111827"/>
                </a:solidFill>
              </a:rPr>
              <a:t>迭代</a:t>
            </a:r>
            <a:r>
              <a:rPr lang="zh-CN" sz="2700" b="1">
                <a:solidFill>
                  <a:srgbClr val="111827"/>
                </a:solidFill>
              </a:rPr>
              <a:t>过程</a:t>
            </a:r>
            <a:endParaRPr lang="zh-CN" sz="270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13</a:t>
            </a:r>
            <a:endParaRPr sz="1050" b="1">
              <a:solidFill>
                <a:srgbClr val="5B64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108204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pic>
        <p:nvPicPr>
          <p:cNvPr id="31" name="图片 3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835" y="2070100"/>
            <a:ext cx="11242675" cy="40436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795139" y="2947670"/>
            <a:ext cx="65836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“AI不是没本事，是缺</a:t>
            </a:r>
            <a:r>
              <a:rPr lang="zh-CN" altLang="en-US" sz="3200" b="1"/>
              <a:t>数据”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同样让AI写你，两种给法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左：第一种：“我做了十年老师。”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右：第二种：“我带过三届毕业班，2024届升学率92%；开发过一套作文批改模板，被全校10位老师使用。”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现在，动手——把你的料，备齐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/>
              <a:t>01</a:t>
            </a:r>
            <a:endParaRPr lang="en-US" altLang="zh-CN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把你做过的所有事，毫无保留地写下来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①打开手机备忘录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②做过哪些</a:t>
            </a:r>
            <a:r>
              <a:rPr lang="zh-CN" altLang="en-US" sz="2200" b="0"/>
              <a:t>事（带过几届学生、写过多少材料、组织过几次活动、卖过什么、被夸过什么——全部写——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92227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③别筛，别觉得“不值一提”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你觉得普通的，可能正是AI眼里的亮点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你带过几届学生、写过多少篇材料、组织过几次活动、卖过什么东西、被夸过什么——全部写。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 fontScale="90000"/>
          </a:bodyPr>
          <a:lstStyle/>
          <a:p>
            <a:r>
              <a:rPr lang="zh-CN" altLang="en-US" sz="2800" b="1"/>
              <a:t>沉淀为</a:t>
            </a:r>
            <a:r>
              <a:rPr lang="en-US" altLang="zh-CN" sz="2800" b="1"/>
              <a:t> </a:t>
            </a:r>
            <a:r>
              <a:rPr lang="zh-CN" altLang="en-US" sz="2800" b="1"/>
              <a:t>MD 文件的样子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①# 我是谁 一句话介绍：___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②## 做过的事 - 事情1：带数字，比如“带过三届毕业班，升学率92%” - 事情2：带数字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92227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③## 联系方式 电话/微信：___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476750" y="3017520"/>
            <a:ext cx="74688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“你觉得普通的，可能是AI眼里的亮点。”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下一步：把料，变成网页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25</a:t>
            </a:r>
            <a:endParaRPr lang="zh-CN" altLang="en-US"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第一步：把料发给豆包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①打开豆包，把准备好的 MD 全文</a:t>
            </a:r>
            <a:r>
              <a:rPr lang="zh-CN" altLang="en-US" sz="2200" b="0"/>
              <a:t>上传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②然后输入提示词：</a:t>
            </a:r>
            <a:r>
              <a:rPr lang="zh-CN" altLang="en-US" sz="2200">
                <a:sym typeface="+mn-ea"/>
              </a:rPr>
              <a:t>用这份资料，帮我做一个一页的自我介绍网页，干净、大方、适合职场。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看——出来了。能点、能滚。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1007" name="Picture 1006" descr="ppt素材_02_简历网页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第三步：改一轮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①“字太小了，放大一点。”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②“把三个做过的事，每行一个，加序号。”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现在，轮到你们——发豆包→生成网页→改一轮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①把你那份 MD 发给豆包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②生成网页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③改一轮（用追问公式）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④有问题举手，我来。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794504" y="2997835"/>
            <a:ext cx="65836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“敢于迭代，凡事问</a:t>
            </a:r>
            <a:r>
              <a:rPr lang="en-US" altLang="zh-CN" sz="3200" b="1"/>
              <a:t>AI</a:t>
            </a:r>
            <a:r>
              <a:rPr lang="zh-CN" altLang="en-US" sz="3200" b="1"/>
              <a:t>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总结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/>
              <a:t>02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问题一：提示词万能公式，是哪五步？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①答案：角色、任务、背景、要求、格式。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问题二：AI做出来的东西糙，是什么问题？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①答案：数据问题——不是工具，是料没给够。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问题三：第一版不满意，应该重写，还是追问？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①答案：追问——接着改，不重来。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“这三问，就是今天下午的三根柱子：派活、给料、迭代。”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早上看成品 → 上午改贪吃蛇 → 下午做网页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①早上——看了星空海报、简历网页（别人做的成品）。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②上午——玩了贪吃蛇，亲手改过它（你指挥的）。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③下午——做了自己的料，把它变成网页（你指挥的）。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4866259" y="3039745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“原来，我也能指挥它。”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怎么做，才能从“能看”，做到“好看、好用、像回事”？</a:t>
            </a:r>
            <a:endParaRPr lang="zh-CN" altLang="en-US" sz="24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①答案不在工具——工具你已经会了。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②在数据，在方法。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2167</Words>
  <Application>WPS 演示</Application>
  <PresentationFormat>宽屏</PresentationFormat>
  <Paragraphs>393</Paragraphs>
  <Slides>43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43</vt:i4>
      </vt:variant>
    </vt:vector>
  </HeadingPairs>
  <TitlesOfParts>
    <vt:vector size="113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黑体</vt:lpstr>
      <vt:lpstr>阿里巴巴普惠体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Vibe Coding  · 继续打磨</vt:lpstr>
      <vt:lpstr>这是我的第一版——第一次用AI做简历</vt:lpstr>
      <vt:lpstr>悬念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记住</vt:lpstr>
      <vt:lpstr>同样让AI写你，两种给法</vt:lpstr>
      <vt:lpstr>现在，动手——把你的料，备齐</vt:lpstr>
      <vt:lpstr>把你做过的所有事，毫无保留地写下来</vt:lpstr>
      <vt:lpstr>你觉得普通的，可能正是AI眼里的亮点</vt:lpstr>
      <vt:lpstr>沉淀为 MD 文件的样子</vt:lpstr>
      <vt:lpstr>记住</vt:lpstr>
      <vt:lpstr>下一步：把料，变成网页</vt:lpstr>
      <vt:lpstr>第一步：把料发给豆包</vt:lpstr>
      <vt:lpstr>看——出来了。能点、能滚。</vt:lpstr>
      <vt:lpstr>第三步：改一轮</vt:lpstr>
      <vt:lpstr>现在，轮到你们——发豆包→生成网页→改一轮</vt:lpstr>
      <vt:lpstr>记住</vt:lpstr>
      <vt:lpstr>总结</vt:lpstr>
      <vt:lpstr>想一想</vt:lpstr>
      <vt:lpstr>想一想</vt:lpstr>
      <vt:lpstr>想一想</vt:lpstr>
      <vt:lpstr>记住</vt:lpstr>
      <vt:lpstr>早上看成品 → 上午改贪吃蛇 → 下午做网页</vt:lpstr>
      <vt:lpstr>想一想</vt:lpstr>
      <vt:lpstr>怎么做，才能从“能看”，做到“好看、好用、像回事”？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856</cp:revision>
  <dcterms:created xsi:type="dcterms:W3CDTF">2026-10-02T08:29:54Z</dcterms:created>
  <dcterms:modified xsi:type="dcterms:W3CDTF">2026-10-02T08:29:54Z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